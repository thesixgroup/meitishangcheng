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18300076120@outlook.com" userId="7128d12775dc6f2d" providerId="LiveId" clId="{AFE08FDA-2BC2-4E78-B0B6-2350A12467AA}"/>
    <pc:docChg chg="modSld">
      <pc:chgData name="L18300076120@outlook.com" userId="7128d12775dc6f2d" providerId="LiveId" clId="{AFE08FDA-2BC2-4E78-B0B6-2350A12467AA}" dt="2026-10-22T00:49:20.680" v="2" actId="20577"/>
      <pc:docMkLst>
        <pc:docMk/>
      </pc:docMkLst>
      <pc:sldChg chg="modSp mod">
        <pc:chgData name="L18300076120@outlook.com" userId="7128d12775dc6f2d" providerId="LiveId" clId="{AFE08FDA-2BC2-4E78-B0B6-2350A12467AA}" dt="2026-10-22T00:49:20.680" v="2" actId="20577"/>
        <pc:sldMkLst>
          <pc:docMk/>
          <pc:sldMk cId="0" sldId="261"/>
        </pc:sldMkLst>
        <pc:spChg chg="mod">
          <ac:chgData name="L18300076120@outlook.com" userId="7128d12775dc6f2d" providerId="LiveId" clId="{AFE08FDA-2BC2-4E78-B0B6-2350A12467AA}" dt="2026-10-22T00:49:20.680" v="2" actId="20577"/>
          <ac:spMkLst>
            <pc:docMk/>
            <pc:sldMk cId="0" sldId="261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Georgia" panose="02040502050405090303"/>
              </a:rPr>
              <a:t>Meiti Shangcheng Employee &amp; Shift Management System</a:t>
            </a:r>
          </a:p>
          <a:p>
            <a:pPr algn="ctr"/>
            <a:r>
              <a:rPr sz="2800">
                <a:solidFill>
                  <a:srgbClr val="1C7293"/>
                </a:solidFill>
                <a:latin typeface="Georgia" panose="02040502050405090303"/>
              </a:rPr>
              <a:t>UML Class Diagram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100584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>
                <a:solidFill>
                  <a:srgbClr val="AACCDD"/>
                </a:solidFill>
              </a:rPr>
              <a:t>The first DIY &amp; hardware chain store of Jupiter Group in Zhengzhou</a:t>
            </a:r>
          </a:p>
          <a:p>
            <a:pPr algn="ctr"/>
            <a:r>
              <a:rPr sz="1400">
                <a:solidFill>
                  <a:srgbClr val="88AABB"/>
                </a:solidFill>
              </a:rPr>
              <a:t>Group 6 · Assignment </a:t>
            </a:r>
            <a:r>
              <a:rPr lang="en-US" sz="1400">
                <a:solidFill>
                  <a:srgbClr val="88AABB"/>
                </a:solidFill>
              </a:rPr>
              <a:t>3 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DDDDD"/>
                </a:solidFill>
                <a:latin typeface="Calibri"/>
              </a:rPr>
              <a:t>Jupiter Group · Zhengzhou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Georgia" panose="02040502050405090303"/>
              </a:rPr>
              <a:t>CONTENTS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0020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1848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</a:rPr>
              <a:t>UML Class Diagram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842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Five packages · 12 core classes · 3 enumeration types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74320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6148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</a:rPr>
              <a:t>Class Diagram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272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Three-compartment class structure, visibility markers, and key modeling mechanisms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8620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0448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</a:rPr>
              <a:t>Core Classes in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702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Design rationale, responsibilities, and encapsulation strategies, class by class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02920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04748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</a:rPr>
              <a:t>Class Relationship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4132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Semantics of generalization, association, composition, and dependency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Georgia" panose="02040502050405090303"/>
              </a:rPr>
              <a:t>01  UML Class Diagram — Full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7293"/>
                </a:solidFill>
                <a:latin typeface="Calibri"/>
              </a:rPr>
              <a:t>Five-package structure · top-down layout · clean, untangled edges</a:t>
            </a:r>
          </a:p>
        </p:txBody>
      </p:sp>
      <p:pic>
        <p:nvPicPr>
          <p:cNvPr id="5" name="Picture 4" descr="class_diagram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249" y="1645920"/>
            <a:ext cx="9537196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Figure 1. UML class diagram of the Meiti Shangcheng employee and shift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Georgia" panose="02040502050405090303"/>
              </a:rPr>
              <a:t>02  Class Diagram Notation — Conventions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7293"/>
                </a:solidFill>
                <a:latin typeface="Calibri"/>
              </a:rPr>
              <a:t>Graphical notation following the UML 2.x specification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2286000" cy="731520"/>
          </a:xfrm>
          <a:prstGeom prst="roundRect">
            <a:avLst/>
          </a:prstGeom>
          <a:solidFill>
            <a:srgbClr val="E8F4FD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Calibri"/>
              </a:rPr>
              <a:t>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45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Three-compartment structure: name / attributes /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97480"/>
            <a:ext cx="2286000" cy="731520"/>
          </a:xfrm>
          <a:prstGeom prst="roundRect">
            <a:avLst/>
          </a:prstGeom>
          <a:solidFill>
            <a:srgbClr val="FFF3CD"/>
          </a:solidFill>
          <a:ln w="9525">
            <a:solidFill>
              <a:srgbClr val="8564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Calibri"/>
              </a:rPr>
              <a:t>Abstract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88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«abstract» stereotype marker —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40480"/>
            <a:ext cx="2286000" cy="731520"/>
          </a:xfrm>
          <a:prstGeom prst="roundRect">
            <a:avLst/>
          </a:prstGeom>
          <a:solidFill>
            <a:srgbClr val="D4EDDA"/>
          </a:solidFill>
          <a:ln w="9525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Calibri"/>
              </a:rPr>
              <a:t>Enumeration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Stereotyped data type with a restricted value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Relationship notation: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Calibri"/>
              </a:rPr>
              <a:t>Solid + hollow triangle 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548640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Generalization — specialization of the parent class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3328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Calibri"/>
              </a:rPr>
              <a:t>Solid + filled diamond 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7332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Composition — strong whole–part ownership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8017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Calibri"/>
              </a:rPr>
              <a:t>Solid + crow's foot 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98017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Association — the crow's-foot end denotes the "many" 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2706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Calibri"/>
              </a:rPr>
              <a:t>Dashed line 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622706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Dependency — value-constraint reference to an enumeration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739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95C"/>
                </a:solidFill>
                <a:latin typeface="Calibri"/>
              </a:rPr>
              <a:t>+ / − prefixes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64739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Visibility: + public; − private, reflecting encapsulation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Georgia" panose="02040502050405090303"/>
              </a:rPr>
              <a:t>02  Class Diagram Notation — Key Modeling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2986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C7293"/>
                </a:solidFill>
                <a:latin typeface="Calibri"/>
              </a:rPr>
              <a:t>Core OO mechanisms adopted in this class diagram and their design intent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2286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Generalization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299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Behavior reuse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95728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Subclasses inherit the parent's attributes and operations and append specialized responsibilities;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Honors the Liskov Substitution Principle (LSP) — role objects are referenced uniformly as User;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Runtime dynamic binding provides the polymorphic basis for permission dispatch.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303520" cy="2286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6642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Abstract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299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Contract definition, no instantiation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95728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«abstract» User cannot be instantiated; it defines the common contract of all system users;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No role-less "bare user" exists — every concrete user is a subclass;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Effectively prevents bypassing the role-based permission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5303520" cy="2286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1788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Enumeration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445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Value-domain constraint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10328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Restricts an attribute's value space to a set of predefined constants;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Eliminates illegal states at the modeling level, replacing free-text input;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More readable and maintainable than boolean flags or string conventions.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069080"/>
            <a:ext cx="5303520" cy="2286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41788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Composition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5445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Lifecycle constraint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910328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A filled diamond marks strong ownership: the part depends on the whole;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The part loses its semantics when the whole ceases to exist — distinct from aggregation;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Used to express ShiftAssignment's definitional dependence on Shift.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Georgia" panose="02040502050405090303"/>
              </a:rPr>
              <a:t>03  Detail ① — User Role Inheritance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7293"/>
                </a:solidFill>
                <a:latin typeface="Calibri"/>
              </a:rPr>
              <a:t>A permission model built on generalization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4114800" cy="4846320"/>
          </a:xfrm>
          <a:prstGeom prst="roundRect">
            <a:avLst/>
          </a:prstGeom>
          <a:solidFill>
            <a:srgbClr val="FFF3CD"/>
          </a:solidFill>
          <a:ln w="9525">
            <a:solidFill>
              <a:srgbClr val="8564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«abstract»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Abstract base class: the common contract of all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Calibri"/>
              </a:rPr>
              <a:t>- username: String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password: String</a:t>
            </a:r>
          </a:p>
          <a:p>
            <a:endParaRPr sz="1000"/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login(): boolean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logout(): void</a:t>
            </a:r>
          </a:p>
          <a:p>
            <a:endParaRPr sz="1000"/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▼ Four concrete subclasses: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AdministrationStaff (HR)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Manager (Store Manager)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WarehouseWorker (Warehouse Staff)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StoreEmployee (Store Staff)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00200"/>
            <a:ext cx="6355080" cy="4846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60" y="17830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Design rationale: Pull Up common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30552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All four roles share an identical authentication flow, lifted into the abstract parent User;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login()/logout() are implemented once and reused by all subclasses, eliminating duplication.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78892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Responsibility assignment: role-specific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136391"/>
            <a:ext cx="585216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333333"/>
                </a:solidFill>
                <a:latin typeface="Calibri"/>
              </a:rPr>
              <a:t>HR</a:t>
            </a:r>
            <a:r>
              <a:rPr sz="1100" b="0" dirty="0">
                <a:solidFill>
                  <a:srgbClr val="333333"/>
                </a:solidFill>
                <a:latin typeface="Calibri"/>
              </a:rPr>
              <a:t>: employee records, wage setting</a:t>
            </a:r>
            <a:r>
              <a:rPr lang="en-US" sz="1100" b="0" dirty="0">
                <a:solidFill>
                  <a:srgbClr val="333333"/>
                </a:solidFill>
                <a:latin typeface="Calibri"/>
              </a:rPr>
              <a:t>; </a:t>
            </a:r>
            <a:endParaRPr sz="1100" b="0" dirty="0">
              <a:solidFill>
                <a:srgbClr val="333333"/>
              </a:solidFill>
              <a:latin typeface="Calibri"/>
            </a:endParaRPr>
          </a:p>
          <a:p>
            <a:r>
              <a:rPr sz="1100" b="0" dirty="0">
                <a:solidFill>
                  <a:srgbClr val="333333"/>
                </a:solidFill>
                <a:latin typeface="Calibri"/>
              </a:rPr>
              <a:t>Manager: statistics queries, sick-leave </a:t>
            </a:r>
            <a:r>
              <a:rPr sz="1100" b="0" dirty="0" err="1">
                <a:solidFill>
                  <a:srgbClr val="333333"/>
                </a:solidFill>
                <a:latin typeface="Calibri"/>
              </a:rPr>
              <a:t>registration</a:t>
            </a:r>
            <a:r>
              <a:rPr lang="en-US" sz="1100" b="0" dirty="0" err="1">
                <a:solidFill>
                  <a:srgbClr val="333333"/>
                </a:solidFill>
                <a:latin typeface="Calibri"/>
              </a:rPr>
              <a:t>,scheduling</a:t>
            </a:r>
            <a:r>
              <a:rPr sz="1100" b="0">
                <a:solidFill>
                  <a:srgbClr val="333333"/>
                </a:solidFill>
                <a:latin typeface="Calibri"/>
              </a:rPr>
              <a:t>;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> </a:t>
            </a:r>
            <a:endParaRPr sz="1100" b="0" dirty="0">
              <a:solidFill>
                <a:srgbClr val="333333"/>
              </a:solidFill>
              <a:latin typeface="Calibri"/>
            </a:endParaRPr>
          </a:p>
          <a:p>
            <a:r>
              <a:rPr sz="1100" b="0" dirty="0" err="1">
                <a:solidFill>
                  <a:srgbClr val="333333"/>
                </a:solidFill>
                <a:latin typeface="Calibri"/>
              </a:rPr>
              <a:t>WarehouseWorker</a:t>
            </a:r>
            <a:r>
              <a:rPr sz="1100" b="0" dirty="0">
                <a:solidFill>
                  <a:srgbClr val="333333"/>
                </a:solidFill>
                <a:latin typeface="Calibri"/>
              </a:rPr>
              <a:t>: inventory view, restock-request processing;</a:t>
            </a:r>
          </a:p>
          <a:p>
            <a:r>
              <a:rPr sz="1100" b="0" dirty="0" err="1">
                <a:solidFill>
                  <a:srgbClr val="333333"/>
                </a:solidFill>
                <a:latin typeface="Calibri"/>
              </a:rPr>
              <a:t>StoreEmployee</a:t>
            </a:r>
            <a:r>
              <a:rPr sz="1100" b="0" dirty="0">
                <a:solidFill>
                  <a:srgbClr val="333333"/>
                </a:solidFill>
                <a:latin typeface="Calibri"/>
              </a:rPr>
              <a:t>: personal roster, profile maintenance (self-service site).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3434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Architectural benefit: Open-Closed Principle (OCP)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690872"/>
            <a:ext cx="58521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Open for extension — a new role (e.g., Cleaner) requires only a new subclass;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Closed for modification — existing roles and authentication logic stay untouched;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Permission isolation is achieved at the type level, without runtime checks.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Georgia" panose="02040502050405090303"/>
              </a:rPr>
              <a:t>03  Detail ② — Employee: The Core Business 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7293"/>
                </a:solidFill>
                <a:latin typeface="Calibri"/>
              </a:rPr>
              <a:t>Business rules mapped to attribute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4114800" cy="4846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Employee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Core entity associated with most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Calibri"/>
              </a:rPr>
              <a:t>- employeeId: String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name / address / telephone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startDate: Date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hourlyWage: double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isIndividualWage: boolean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remainingSickLeaveDays: int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isActive: boolean</a:t>
            </a:r>
          </a:p>
          <a:p>
            <a:endParaRPr sz="1000"/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getFullDetails()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updatePersonalData()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deactivate(reason)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hasOngoingShift()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00200"/>
            <a:ext cx="6355080" cy="4846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60" y="17830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employeeId: unique entity identifier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30552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Serves as the business primary key across scheduling, payroll, and attendance subsystems,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ensuring consistent entity references.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78892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hourlyWage + isIndividualWage: dual-track wage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136391"/>
            <a:ext cx="58521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The wage defaults to the EmployeeType standard rate;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When isIndividualWage is set, an individual override takes precedence in payroll;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A single boolean distinguishes the pricing source, avoiding a redundant pricing-record 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069079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isActive: soft-delete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416551"/>
            <a:ext cx="58521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Deactivation only sets a flag instead of physically deleting the record,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preserving referential integrity of historical shifts and payroll data;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deactivate() also checks hasOngoingShift() to block resignation with unfinished shifts.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53492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Encapsulation guarantee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5696712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All attributes are private (−); mutation happens only through public operations (+)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under business rules — e.g., the wage cannot be assigned directly from outside.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Georgia" panose="02040502050405090303"/>
              </a:rPr>
              <a:t>03  Detail ③ — EmployeeType: Position Pricing 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8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C7293"/>
                </a:solidFill>
                <a:latin typeface="Calibri"/>
              </a:rPr>
              <a:t>A normalized design that removes data redundancy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4114800" cy="4846320"/>
          </a:xfrm>
          <a:prstGeom prst="roundRect">
            <a:avLst/>
          </a:prstGeom>
          <a:solidFill>
            <a:srgbClr val="D4EDDA"/>
          </a:solidFill>
          <a:ln w="9525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EmployeeType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Foundational data 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Calibri"/>
              </a:rPr>
              <a:t>- typeName: String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defaultHourlyWage: double</a:t>
            </a:r>
          </a:p>
          <a:p>
            <a:endParaRPr sz="1000"/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getTypeName()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getDefaultWage()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00200"/>
            <a:ext cx="6355080" cy="4846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60" y="17830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Design rationale: single point of storage for rate standards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30552"/>
            <a:ext cx="58521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The "position type — default wage" pair is modeled as an independent entity;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The rate standard is stored exactly once, following normalization principles;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If duplicated on every Employee, a price change would require O(n) updates.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0632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Cascading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410712"/>
            <a:ext cx="58521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Changing one type's defaultHourlyWage automatically applies to all employees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of that type without individual pricing;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The isIndividualWage flag switches between the standard and individual pricing paths.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3434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Association semantics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690872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Employee—EmployeeType is an N:1 association;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Every employee must belong to exactly one position type, forming the payroll default.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Georgia" panose="02040502050405090303"/>
              </a:rPr>
              <a:t>03  Detail ④ — Shift &amp; ShiftType: Value-Domain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C7293"/>
                </a:solidFill>
                <a:latin typeface="Calibri"/>
              </a:rPr>
              <a:t>Enumeration constraint and interval-overlap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4114800" cy="4846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Shift  +  «enum» ShiftType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Shift definition entity and its value-constraint enum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749039" cy="209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Calibri"/>
              </a:rPr>
              <a:t>Shift: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shiftId: String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shiftType: ShiftType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startTime: Time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endTime: Time</a:t>
            </a:r>
          </a:p>
          <a:p>
            <a:endParaRPr sz="1000"/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getDurationHours()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conflictsWith(other)</a:t>
            </a:r>
          </a:p>
          <a:p>
            <a:endParaRPr sz="1000"/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ShiftType (enum):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MORNING   08:00-</a:t>
            </a:r>
            <a:r>
              <a:rPr lang="en-US" sz="1000" b="0">
                <a:solidFill>
                  <a:srgbClr val="333333"/>
                </a:solidFill>
                <a:latin typeface="Calibri"/>
              </a:rPr>
              <a:t>12</a:t>
            </a:r>
            <a:r>
              <a:rPr sz="1000" b="0">
                <a:solidFill>
                  <a:srgbClr val="333333"/>
                </a:solidFill>
                <a:latin typeface="Calibri"/>
              </a:rPr>
              <a:t>:00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AFTERNOON 12:00-16:00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EVENING   16:00-20:00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00200"/>
            <a:ext cx="6355080" cy="4846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60" y="17830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ShiftType: domain constraint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30552"/>
            <a:ext cx="58521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Locks the shift type into three predefined constants,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preventing dirty data from free-text input at both the modeling and storage level;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Type-safe and semantically explicit compared with string conventions or boolean combinations.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0632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Shift: encapsulation of the time span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410712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shiftType identifies the category; startTime/endTime define the interval boundaries;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getDurationHours() derives the duration, avoiding redundant storage.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0690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conflictsWith(): interval-overlap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416552"/>
            <a:ext cx="58521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Two intervals overlap iff start1 &lt; end2 and start2 &lt; end1;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Invoked at the scheduling entry point to enforce FR-012 (no overlapping shifts per employee);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Checking validity before data writes keeps the scheduling state consistent.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Georgia" panose="02040502050405090303"/>
              </a:rPr>
              <a:t>03  Detail ⑤ — ShiftAssignment: Associative 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7293"/>
                </a:solidFill>
                <a:latin typeface="Calibri"/>
              </a:rPr>
              <a:t>Relational representation of a many-to-many relationship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4114800" cy="4846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ShiftAssignment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Associative entity: employee × shift ×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Calibri"/>
              </a:rPr>
              <a:t>- assignmentId: String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date: Date</a:t>
            </a:r>
          </a:p>
          <a:p>
            <a:endParaRPr sz="1000"/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store()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remove()</a:t>
            </a:r>
          </a:p>
          <a:p>
            <a:endParaRPr sz="1000"/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◆ composes Shift (filled diamond)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← associated with Employee (crow's foot)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00200"/>
            <a:ext cx="6355080" cy="4846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60" y="17830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Design rationale: a relationship that carries 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30552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Employee and Shift form a time-varying many-to-many relationship: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one employee takes multiple shifts on different dates; one shift is staffed by several employees;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The relationship itself carries the date attribute, hence an associative entity —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each record represents the triple (employee × shift × date).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3375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Operation encapsulation &amp; constraint cohesion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685032"/>
            <a:ext cx="58521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store() persists a record after conflict detection and weekly-shift-limit validation;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remove() revokes a record; business rules stay cohesive within entity operations,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so callers need no knowledge of the validation details.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61772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Composition semantics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965192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Assignment records strongly depend on shift definitions: without a shift, a record is meaningless;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This maps to a standard junction table in later database design.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Georgia" panose="02040502050405090303"/>
              </a:rPr>
              <a:t>03  Detail ⑥ — WorkRecord &amp; SickLeave: Attendance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607" y="1216151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C7293"/>
                </a:solidFill>
                <a:latin typeface="Calibri"/>
              </a:rPr>
              <a:t>Event logging and state-machine-driven approval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4114800" cy="4846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WorkRecord  /  SickLeave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Clock-in event record and sick-leave 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Calibri"/>
              </a:rPr>
              <a:t>WorkRecord: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recordId: String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startTimestamp: DateTime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recordStart()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getHoursWorked()</a:t>
            </a:r>
          </a:p>
          <a:p>
            <a:endParaRPr sz="1000"/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SickLeave: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startDate / endDate: Date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reason: String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status: SickLeaveStatus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calculateDays()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00200"/>
            <a:ext cx="6355080" cy="4846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60" y="17830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WorkRecord: the source of truth for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30552"/>
            <a:ext cx="58521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recordStart() handles the Start-Work event and writes a tamper-proof timestamp;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The timestamp is system-generated, not user input — the authoritative basis for payroll and audit;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getHoursWorked() derives actual working hours from the timestamp.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0632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SickLeave: a state-machine-driven 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410712"/>
            <a:ext cx="58521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status takes PENDING / APPROVED / REJECTED, forming an approval state machine;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Transitions are triggered only by Manager approval operations — controlled and auditable;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calculateDays() derives the leave span from the start and end dates.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3434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Cross-entity state 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690872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Approval deducts Employee.remainingSickLeaveDays;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The association keeps balance changes traceable against approval records.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Georgia" panose="02040502050405090303"/>
              </a:rPr>
              <a:t>03  Detail ⑦ — Product &amp; RestockRequest: Inventory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7293"/>
                </a:solidFill>
                <a:latin typeface="Calibri"/>
              </a:rPr>
              <a:t>Stock-level alerting and restock state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4114800" cy="4846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Product  /  RestockRequest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Inventory entity and restock-request 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Calibri"/>
              </a:rPr>
              <a:t>Product: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productId: String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name: String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category: String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stockQuantity: int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lowStockThreshold: int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isLowStock()</a:t>
            </a:r>
          </a:p>
          <a:p>
            <a:endParaRPr sz="1000"/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RestockRequest: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requestedQuantity: int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- status: RequestStatus</a:t>
            </a:r>
          </a:p>
          <a:p>
            <a:r>
              <a:rPr sz="1000" b="0">
                <a:solidFill>
                  <a:srgbClr val="333333"/>
                </a:solidFill>
                <a:latin typeface="Calibri"/>
              </a:rPr>
              <a:t>+ markProcessed()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00200"/>
            <a:ext cx="6355080" cy="4846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60" y="17830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Product: master data &amp; stock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30552"/>
            <a:ext cx="58521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Encapsulates static product info (ID, name, category) and dynamic stock state (stockQuantity);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lowStockThreshold supports per-product replenishment thresholds;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isLowStock() encapsulates the alert predicate, polled by the warehouse 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0632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RestockRequest: a two-phase restock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410712"/>
            <a:ext cx="58521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Phase 1: stock hits the threshold → a request is created with status PENDING;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Phase 2: after restocking, markProcessed() moves it to PROCESSED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and records processedDate, closing a traceable loop.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3434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95C"/>
                </a:solidFill>
                <a:latin typeface="Calibri"/>
              </a:rPr>
              <a:t>Scope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690872"/>
            <a:ext cx="58521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This version implements read-only queries and restock marking only (Could priority);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Full inbound/outbound and procurement management is deferred (Won't);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Following YAGNI, no extra classes are pre-introduced in the class diagram.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Georgia" panose="02040502050405090303"/>
              </a:rPr>
              <a:t>04  Class Relationship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7293"/>
                </a:solidFill>
                <a:latin typeface="Calibri"/>
              </a:rPr>
              <a:t>Semantics and design rationale of the four relationship kinds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9728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Generalization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Calibri"/>
              </a:rPr>
              <a:t>AdministrationStaff, Manager, WarehouseWorker, and StoreEmployee generalize from the abstract base class User;</a:t>
            </a:r>
          </a:p>
          <a:p>
            <a:r>
              <a:rPr sz="1200" b="0">
                <a:solidFill>
                  <a:srgbClr val="333333"/>
                </a:solidFill>
                <a:latin typeface="Calibri"/>
              </a:rPr>
              <a:t>Authentication is pulled up for reuse; role responsibilities are specialized downward — honoring LSP and OCP (Detail ①).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109728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7293"/>
                </a:solidFill>
                <a:latin typeface="Calibri"/>
              </a:rPr>
              <a:t>Association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Calibri"/>
              </a:rPr>
              <a:t>Employee—EmployeeType: an N:1 ownership association forming the payroll default (Detail ③);</a:t>
            </a:r>
          </a:p>
          <a:p>
            <a:r>
              <a:rPr sz="1200" b="0">
                <a:solidFill>
                  <a:srgbClr val="333333"/>
                </a:solidFill>
                <a:latin typeface="Calibri"/>
              </a:rPr>
              <a:t>Employee—ShiftAssignment / WorkRecord / SickLeave: 1:N associations — one employee owns multiple business records (Details ②⑤⑥).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69080"/>
            <a:ext cx="109728" cy="10058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1295C"/>
                </a:solidFill>
                <a:latin typeface="Calibri"/>
              </a:rPr>
              <a:t>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Calibri"/>
              </a:rPr>
              <a:t>ShiftAssignment ◆— Shift: strong ownership of the associative entity over the shift definition, lifecycle-controlled (Detail ⑤);</a:t>
            </a:r>
          </a:p>
          <a:p>
            <a:r>
              <a:rPr sz="1200" b="0">
                <a:solidFill>
                  <a:srgbClr val="333333"/>
                </a:solidFill>
                <a:latin typeface="Calibri"/>
              </a:rPr>
              <a:t>Product—RestockRequest: 1:N, one product accumulates multiple restock requests (Detail ⑦).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109728" cy="10058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349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28090"/>
                </a:solidFill>
                <a:latin typeface="Calibri"/>
              </a:rPr>
              <a:t>Dependency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715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Calibri"/>
              </a:rPr>
              <a:t>Shift→ShiftType, SickLeave→SickLeaveStatus, RestockRequest→RequestStatus;</a:t>
            </a:r>
          </a:p>
          <a:p>
            <a:r>
              <a:rPr sz="1200" b="0">
                <a:solidFill>
                  <a:srgbClr val="333333"/>
                </a:solidFill>
                <a:latin typeface="Calibri"/>
              </a:rPr>
              <a:t>Enumerations constrain attribute value spaces — a usage-level dependency (see Modeling Mechanisms).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Georgia" panose="02040502050405090303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DDDDDD"/>
                </a:solidFill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BBCCDD"/>
                </a:solidFill>
              </a:rPr>
              <a:t>Meiti Shangcheng Employee &amp; Shift Management System · Class Diagram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1883</Words>
  <Application>Microsoft Office PowerPoint</Application>
  <PresentationFormat>宽屏</PresentationFormat>
  <Paragraphs>262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L18300076120@outlook.com</cp:lastModifiedBy>
  <cp:revision>4</cp:revision>
  <dcterms:created xsi:type="dcterms:W3CDTF">2026-10-22T00:33:19Z</dcterms:created>
  <dcterms:modified xsi:type="dcterms:W3CDTF">2026-10-22T00:49:29Z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EAB232909B15B69B5E0FD86A4AD9F0F1_42</vt:lpwstr>
  </property>
  <property fmtid="{D5CDD505-2E9C-101B-9397-08002B2CF9AE}" pid="3" name="KSOProductBuildVer">
    <vt:lpwstr>2052-12.1.29181.29181</vt:lpwstr>
  </property>
</Properties>
</file>